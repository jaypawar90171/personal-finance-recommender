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736818" y="2691346"/>
            <a:ext cx="11403483" cy="4253461"/>
          </a:xfrm>
          <a:prstGeom prst="rect">
            <a:avLst/>
          </a:prstGeom>
        </p:spPr>
        <p:txBody>
          <a:bodyPr anchor="t" rtlCol="false" tIns="0" lIns="0" bIns="0" rIns="0">
            <a:spAutoFit/>
          </a:bodyPr>
          <a:lstStyle/>
          <a:p>
            <a:pPr algn="ctr">
              <a:lnSpc>
                <a:spcPts val="10838"/>
              </a:lnSpc>
            </a:pPr>
            <a:r>
              <a:rPr lang="en-US" sz="10129" b="true">
                <a:solidFill>
                  <a:srgbClr val="FFFFFF"/>
                </a:solidFill>
                <a:latin typeface="Poppins Bold"/>
                <a:ea typeface="Poppins Bold"/>
                <a:cs typeface="Poppins Bold"/>
                <a:sym typeface="Poppins Bold"/>
              </a:rPr>
              <a:t>Personalized Finance Recommender</a:t>
            </a:r>
          </a:p>
        </p:txBody>
      </p:sp>
      <p:sp>
        <p:nvSpPr>
          <p:cNvPr name="Freeform 5" id="5"/>
          <p:cNvSpPr/>
          <p:nvPr/>
        </p:nvSpPr>
        <p:spPr>
          <a:xfrm flipH="false" flipV="false" rot="0">
            <a:off x="-744683" y="2930183"/>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0">
            <a:off x="13763324" y="6302675"/>
            <a:ext cx="5447285" cy="891374"/>
          </a:xfrm>
          <a:custGeom>
            <a:avLst/>
            <a:gdLst/>
            <a:ahLst/>
            <a:cxnLst/>
            <a:rect r="r" b="b" t="t" l="l"/>
            <a:pathLst>
              <a:path h="891374" w="5447285">
                <a:moveTo>
                  <a:pt x="5447285" y="891374"/>
                </a:moveTo>
                <a:lnTo>
                  <a:pt x="0" y="891374"/>
                </a:lnTo>
                <a:lnTo>
                  <a:pt x="0" y="0"/>
                </a:lnTo>
                <a:lnTo>
                  <a:pt x="5447285" y="0"/>
                </a:lnTo>
                <a:lnTo>
                  <a:pt x="5447285" y="891374"/>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4683" y="3428669"/>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13763324" y="6770189"/>
            <a:ext cx="5447285" cy="891374"/>
          </a:xfrm>
          <a:custGeom>
            <a:avLst/>
            <a:gdLst/>
            <a:ahLst/>
            <a:cxnLst/>
            <a:rect r="r" b="b" t="t" l="l"/>
            <a:pathLst>
              <a:path h="891374" w="5447285">
                <a:moveTo>
                  <a:pt x="5447285" y="891374"/>
                </a:moveTo>
                <a:lnTo>
                  <a:pt x="0" y="891374"/>
                </a:lnTo>
                <a:lnTo>
                  <a:pt x="0" y="0"/>
                </a:lnTo>
                <a:lnTo>
                  <a:pt x="5447285" y="0"/>
                </a:lnTo>
                <a:lnTo>
                  <a:pt x="5447285" y="891374"/>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graphicFrame>
        <p:nvGraphicFramePr>
          <p:cNvPr name="Table 6" id="6"/>
          <p:cNvGraphicFramePr>
            <a:graphicFrameLocks noGrp="true"/>
          </p:cNvGraphicFramePr>
          <p:nvPr/>
        </p:nvGraphicFramePr>
        <p:xfrm>
          <a:off x="4229605" y="3874356"/>
          <a:ext cx="9828790" cy="5133975"/>
        </p:xfrm>
        <a:graphic>
          <a:graphicData uri="http://schemas.openxmlformats.org/drawingml/2006/table">
            <a:tbl>
              <a:tblPr/>
              <a:tblGrid>
                <a:gridCol w="5236369"/>
                <a:gridCol w="4592421"/>
              </a:tblGrid>
              <a:tr h="1026795">
                <a:tc>
                  <a:txBody>
                    <a:bodyPr anchor="t" rtlCol="false"/>
                    <a:lstStyle/>
                    <a:p>
                      <a:pPr algn="ctr">
                        <a:lnSpc>
                          <a:spcPts val="2799"/>
                        </a:lnSpc>
                        <a:defRPr/>
                      </a:pPr>
                      <a:r>
                        <a:rPr lang="en-US" sz="1999" b="true">
                          <a:solidFill>
                            <a:srgbClr val="FFFFFF"/>
                          </a:solidFill>
                          <a:latin typeface="Poppins Bold"/>
                          <a:ea typeface="Poppins Bold"/>
                          <a:cs typeface="Poppins Bold"/>
                          <a:sym typeface="Poppins Bold"/>
                        </a:rPr>
                        <a:t>Name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799"/>
                        </a:lnSpc>
                        <a:defRPr/>
                      </a:pPr>
                      <a:r>
                        <a:rPr lang="en-US" sz="1999" b="true">
                          <a:solidFill>
                            <a:srgbClr val="FFFFFF"/>
                          </a:solidFill>
                          <a:latin typeface="Poppins Bold"/>
                          <a:ea typeface="Poppins Bold"/>
                          <a:cs typeface="Poppins Bold"/>
                          <a:sym typeface="Poppins Bold"/>
                        </a:rPr>
                        <a:t>Roll No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6795">
                <a:tc>
                  <a:txBody>
                    <a:bodyPr anchor="t" rtlCol="false"/>
                    <a:lstStyle/>
                    <a:p>
                      <a:pPr algn="ctr">
                        <a:lnSpc>
                          <a:spcPts val="2799"/>
                        </a:lnSpc>
                        <a:defRPr/>
                      </a:pPr>
                      <a:r>
                        <a:rPr lang="en-US" sz="1999">
                          <a:solidFill>
                            <a:srgbClr val="FFFFFF"/>
                          </a:solidFill>
                          <a:latin typeface="Poppins"/>
                          <a:ea typeface="Poppins"/>
                          <a:cs typeface="Poppins"/>
                          <a:sym typeface="Poppins"/>
                        </a:rPr>
                        <a:t>Alfaj Mulla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799"/>
                        </a:lnSpc>
                        <a:defRPr/>
                      </a:pPr>
                      <a:r>
                        <a:rPr lang="en-US" sz="1999">
                          <a:solidFill>
                            <a:srgbClr val="FFFFFF"/>
                          </a:solidFill>
                          <a:latin typeface="Poppins"/>
                          <a:ea typeface="Poppins"/>
                          <a:cs typeface="Poppins"/>
                          <a:sym typeface="Poppins"/>
                        </a:rPr>
                        <a:t>58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6795">
                <a:tc>
                  <a:txBody>
                    <a:bodyPr anchor="t" rtlCol="false"/>
                    <a:lstStyle/>
                    <a:p>
                      <a:pPr algn="ctr">
                        <a:lnSpc>
                          <a:spcPts val="2799"/>
                        </a:lnSpc>
                        <a:defRPr/>
                      </a:pPr>
                      <a:r>
                        <a:rPr lang="en-US" sz="1999">
                          <a:solidFill>
                            <a:srgbClr val="FFFFFF"/>
                          </a:solidFill>
                          <a:latin typeface="Poppins"/>
                          <a:ea typeface="Poppins"/>
                          <a:cs typeface="Poppins"/>
                          <a:sym typeface="Poppins"/>
                        </a:rPr>
                        <a:t>Sanika Navle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799"/>
                        </a:lnSpc>
                        <a:defRPr/>
                      </a:pPr>
                      <a:r>
                        <a:rPr lang="en-US" sz="1999">
                          <a:solidFill>
                            <a:srgbClr val="FFFFFF"/>
                          </a:solidFill>
                          <a:latin typeface="Poppins"/>
                          <a:ea typeface="Poppins"/>
                          <a:cs typeface="Poppins"/>
                          <a:sym typeface="Poppins"/>
                        </a:rPr>
                        <a:t>62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6795">
                <a:tc>
                  <a:txBody>
                    <a:bodyPr anchor="t" rtlCol="false"/>
                    <a:lstStyle/>
                    <a:p>
                      <a:pPr algn="ctr">
                        <a:lnSpc>
                          <a:spcPts val="2799"/>
                        </a:lnSpc>
                        <a:defRPr/>
                      </a:pPr>
                      <a:r>
                        <a:rPr lang="en-US" sz="1999">
                          <a:solidFill>
                            <a:srgbClr val="FFFFFF"/>
                          </a:solidFill>
                          <a:latin typeface="Poppins"/>
                          <a:ea typeface="Poppins"/>
                          <a:cs typeface="Poppins"/>
                          <a:sym typeface="Poppins"/>
                        </a:rPr>
                        <a:t>Akash Gurav</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799"/>
                        </a:lnSpc>
                        <a:defRPr/>
                      </a:pPr>
                      <a:r>
                        <a:rPr lang="en-US" sz="1999">
                          <a:solidFill>
                            <a:srgbClr val="FFFFFF"/>
                          </a:solidFill>
                          <a:latin typeface="Poppins"/>
                          <a:ea typeface="Poppins"/>
                          <a:cs typeface="Poppins"/>
                          <a:sym typeface="Poppins"/>
                        </a:rPr>
                        <a:t>63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6795">
                <a:tc>
                  <a:txBody>
                    <a:bodyPr anchor="t" rtlCol="false"/>
                    <a:lstStyle/>
                    <a:p>
                      <a:pPr algn="ctr">
                        <a:lnSpc>
                          <a:spcPts val="2799"/>
                        </a:lnSpc>
                        <a:defRPr/>
                      </a:pPr>
                      <a:r>
                        <a:rPr lang="en-US" sz="1999">
                          <a:solidFill>
                            <a:srgbClr val="FFFFFF"/>
                          </a:solidFill>
                          <a:latin typeface="Poppins"/>
                          <a:ea typeface="Poppins"/>
                          <a:cs typeface="Poppins"/>
                          <a:sym typeface="Poppins"/>
                        </a:rPr>
                        <a:t>Jay Pawar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799"/>
                        </a:lnSpc>
                        <a:defRPr/>
                      </a:pPr>
                      <a:r>
                        <a:rPr lang="en-US" sz="1999">
                          <a:solidFill>
                            <a:srgbClr val="FFFFFF"/>
                          </a:solidFill>
                          <a:latin typeface="Poppins"/>
                          <a:ea typeface="Poppins"/>
                          <a:cs typeface="Poppins"/>
                          <a:sym typeface="Poppins"/>
                        </a:rPr>
                        <a:t>77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7" id="7"/>
          <p:cNvSpPr txBox="true"/>
          <p:nvPr/>
        </p:nvSpPr>
        <p:spPr>
          <a:xfrm rot="0">
            <a:off x="5886454" y="2540682"/>
            <a:ext cx="6515092" cy="887987"/>
          </a:xfrm>
          <a:prstGeom prst="rect">
            <a:avLst/>
          </a:prstGeom>
        </p:spPr>
        <p:txBody>
          <a:bodyPr anchor="t" rtlCol="false" tIns="0" lIns="0" bIns="0" rIns="0">
            <a:spAutoFit/>
          </a:bodyPr>
          <a:lstStyle/>
          <a:p>
            <a:pPr algn="l">
              <a:lnSpc>
                <a:spcPts val="6313"/>
              </a:lnSpc>
            </a:pPr>
            <a:r>
              <a:rPr lang="en-US" sz="5900" b="true">
                <a:solidFill>
                  <a:srgbClr val="FFFFFF"/>
                </a:solidFill>
                <a:latin typeface="Poppins Bold"/>
                <a:ea typeface="Poppins Bold"/>
                <a:cs typeface="Poppins Bold"/>
                <a:sym typeface="Poppins Bold"/>
              </a:rPr>
              <a:t>Team Members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885403" y="4207290"/>
            <a:ext cx="4583172" cy="4444667"/>
            <a:chOff x="0" y="0"/>
            <a:chExt cx="646023" cy="626500"/>
          </a:xfrm>
        </p:grpSpPr>
        <p:sp>
          <p:nvSpPr>
            <p:cNvPr name="Freeform 4" id="4"/>
            <p:cNvSpPr/>
            <p:nvPr/>
          </p:nvSpPr>
          <p:spPr>
            <a:xfrm flipH="false" flipV="false" rot="0">
              <a:off x="0" y="0"/>
              <a:ext cx="646023" cy="626500"/>
            </a:xfrm>
            <a:custGeom>
              <a:avLst/>
              <a:gdLst/>
              <a:ahLst/>
              <a:cxnLst/>
              <a:rect r="r" b="b" t="t" l="l"/>
              <a:pathLst>
                <a:path h="626500" w="646023">
                  <a:moveTo>
                    <a:pt x="121623" y="0"/>
                  </a:moveTo>
                  <a:lnTo>
                    <a:pt x="524401" y="0"/>
                  </a:lnTo>
                  <a:cubicBezTo>
                    <a:pt x="556657" y="0"/>
                    <a:pt x="587592" y="12814"/>
                    <a:pt x="610401" y="35622"/>
                  </a:cubicBezTo>
                  <a:cubicBezTo>
                    <a:pt x="633210" y="58431"/>
                    <a:pt x="646023" y="89366"/>
                    <a:pt x="646023" y="121623"/>
                  </a:cubicBezTo>
                  <a:lnTo>
                    <a:pt x="646023" y="504877"/>
                  </a:lnTo>
                  <a:cubicBezTo>
                    <a:pt x="646023" y="572048"/>
                    <a:pt x="591571" y="626500"/>
                    <a:pt x="524401" y="626500"/>
                  </a:cubicBezTo>
                  <a:lnTo>
                    <a:pt x="121623" y="626500"/>
                  </a:lnTo>
                  <a:cubicBezTo>
                    <a:pt x="54452" y="626500"/>
                    <a:pt x="0" y="572048"/>
                    <a:pt x="0" y="504877"/>
                  </a:cubicBezTo>
                  <a:lnTo>
                    <a:pt x="0" y="121623"/>
                  </a:lnTo>
                  <a:cubicBezTo>
                    <a:pt x="0" y="54452"/>
                    <a:pt x="54452" y="0"/>
                    <a:pt x="121623" y="0"/>
                  </a:cubicBezTo>
                  <a:close/>
                </a:path>
              </a:pathLst>
            </a:custGeom>
            <a:gradFill rotWithShape="true">
              <a:gsLst>
                <a:gs pos="0">
                  <a:srgbClr val="0C131D">
                    <a:alpha val="100000"/>
                  </a:srgbClr>
                </a:gs>
                <a:gs pos="100000">
                  <a:srgbClr val="0F2E4A">
                    <a:alpha val="100000"/>
                  </a:srgbClr>
                </a:gs>
              </a:gsLst>
              <a:lin ang="0"/>
            </a:gradFill>
            <a:ln cap="rnd">
              <a:noFill/>
              <a:prstDash val="solid"/>
              <a:round/>
            </a:ln>
          </p:spPr>
        </p:sp>
        <p:sp>
          <p:nvSpPr>
            <p:cNvPr name="TextBox 5" id="5"/>
            <p:cNvSpPr txBox="true"/>
            <p:nvPr/>
          </p:nvSpPr>
          <p:spPr>
            <a:xfrm>
              <a:off x="0" y="-38100"/>
              <a:ext cx="646023" cy="6646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185621">
            <a:off x="14115299" y="4334152"/>
            <a:ext cx="3628663" cy="7520545"/>
          </a:xfrm>
          <a:custGeom>
            <a:avLst/>
            <a:gdLst/>
            <a:ahLst/>
            <a:cxnLst/>
            <a:rect r="r" b="b" t="t" l="l"/>
            <a:pathLst>
              <a:path h="7520545" w="3628663">
                <a:moveTo>
                  <a:pt x="3628663" y="0"/>
                </a:moveTo>
                <a:lnTo>
                  <a:pt x="0" y="0"/>
                </a:lnTo>
                <a:lnTo>
                  <a:pt x="0" y="7520546"/>
                </a:lnTo>
                <a:lnTo>
                  <a:pt x="3628663" y="7520546"/>
                </a:lnTo>
                <a:lnTo>
                  <a:pt x="3628663" y="0"/>
                </a:lnTo>
                <a:close/>
              </a:path>
            </a:pathLst>
          </a:custGeom>
          <a:blipFill>
            <a:blip r:embed="rId4"/>
            <a:stretch>
              <a:fillRect l="0" t="0" r="0" b="0"/>
            </a:stretch>
          </a:blipFill>
        </p:spPr>
      </p:sp>
      <p:sp>
        <p:nvSpPr>
          <p:cNvPr name="Freeform 7" id="7"/>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885403" y="4838644"/>
            <a:ext cx="2031358" cy="2100088"/>
          </a:xfrm>
          <a:custGeom>
            <a:avLst/>
            <a:gdLst/>
            <a:ahLst/>
            <a:cxnLst/>
            <a:rect r="r" b="b" t="t" l="l"/>
            <a:pathLst>
              <a:path h="2100088" w="2031358">
                <a:moveTo>
                  <a:pt x="0" y="0"/>
                </a:moveTo>
                <a:lnTo>
                  <a:pt x="2031358" y="0"/>
                </a:lnTo>
                <a:lnTo>
                  <a:pt x="2031358" y="2100088"/>
                </a:lnTo>
                <a:lnTo>
                  <a:pt x="0" y="21000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488140" y="2089373"/>
            <a:ext cx="7920686" cy="910190"/>
          </a:xfrm>
          <a:prstGeom prst="rect">
            <a:avLst/>
          </a:prstGeom>
        </p:spPr>
        <p:txBody>
          <a:bodyPr anchor="t" rtlCol="false" tIns="0" lIns="0" bIns="0" rIns="0">
            <a:spAutoFit/>
          </a:bodyPr>
          <a:lstStyle/>
          <a:p>
            <a:pPr algn="l">
              <a:lnSpc>
                <a:spcPts val="6517"/>
              </a:lnSpc>
            </a:pPr>
            <a:r>
              <a:rPr lang="en-US" sz="6091" b="true">
                <a:solidFill>
                  <a:srgbClr val="FFFFFF"/>
                </a:solidFill>
                <a:latin typeface="Poppins Bold"/>
                <a:ea typeface="Poppins Bold"/>
                <a:cs typeface="Poppins Bold"/>
                <a:sym typeface="Poppins Bold"/>
              </a:rPr>
              <a:t>Problem Statement </a:t>
            </a:r>
          </a:p>
        </p:txBody>
      </p:sp>
      <p:sp>
        <p:nvSpPr>
          <p:cNvPr name="TextBox 10" id="10"/>
          <p:cNvSpPr txBox="true"/>
          <p:nvPr/>
        </p:nvSpPr>
        <p:spPr>
          <a:xfrm rot="0">
            <a:off x="1028700" y="3331901"/>
            <a:ext cx="9920725" cy="4961174"/>
          </a:xfrm>
          <a:prstGeom prst="rect">
            <a:avLst/>
          </a:prstGeom>
        </p:spPr>
        <p:txBody>
          <a:bodyPr anchor="t" rtlCol="false" tIns="0" lIns="0" bIns="0" rIns="0">
            <a:spAutoFit/>
          </a:bodyPr>
          <a:lstStyle/>
          <a:p>
            <a:pPr algn="just">
              <a:lnSpc>
                <a:spcPts val="4371"/>
              </a:lnSpc>
            </a:pPr>
            <a:r>
              <a:rPr lang="en-US" sz="2571">
                <a:solidFill>
                  <a:srgbClr val="FFFFFF"/>
                </a:solidFill>
                <a:latin typeface="Poppins"/>
                <a:ea typeface="Poppins"/>
                <a:cs typeface="Poppins"/>
                <a:sym typeface="Poppins"/>
              </a:rPr>
              <a:t>Traditional investment approaches often fail to address individual investors’ unique financial goals, risk appetites, and preferences, leading to suboptimal decisions. Retail investors face challenges such as information overload, lack of expertise in analyzing market trends, and difficulty balancing risk-return trade-offs. Additionally, generic financial advice rarely adapts to dynamic market conditions or evolving personal circumstances, resulting in portfolios that may not align with users’ long-term objective.</a:t>
            </a:r>
          </a:p>
        </p:txBody>
      </p:sp>
      <p:sp>
        <p:nvSpPr>
          <p:cNvPr name="Freeform 11" id="11"/>
          <p:cNvSpPr/>
          <p:nvPr/>
        </p:nvSpPr>
        <p:spPr>
          <a:xfrm flipH="false" flipV="false" rot="0">
            <a:off x="5316070" y="7401701"/>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9">
              <a:alphaModFix amt="30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903795" y="4339199"/>
            <a:ext cx="4583172" cy="4444667"/>
            <a:chOff x="0" y="0"/>
            <a:chExt cx="646023" cy="626500"/>
          </a:xfrm>
        </p:grpSpPr>
        <p:sp>
          <p:nvSpPr>
            <p:cNvPr name="Freeform 4" id="4"/>
            <p:cNvSpPr/>
            <p:nvPr/>
          </p:nvSpPr>
          <p:spPr>
            <a:xfrm flipH="false" flipV="false" rot="0">
              <a:off x="0" y="0"/>
              <a:ext cx="646023" cy="626500"/>
            </a:xfrm>
            <a:custGeom>
              <a:avLst/>
              <a:gdLst/>
              <a:ahLst/>
              <a:cxnLst/>
              <a:rect r="r" b="b" t="t" l="l"/>
              <a:pathLst>
                <a:path h="626500" w="646023">
                  <a:moveTo>
                    <a:pt x="121623" y="0"/>
                  </a:moveTo>
                  <a:lnTo>
                    <a:pt x="524401" y="0"/>
                  </a:lnTo>
                  <a:cubicBezTo>
                    <a:pt x="556657" y="0"/>
                    <a:pt x="587592" y="12814"/>
                    <a:pt x="610401" y="35622"/>
                  </a:cubicBezTo>
                  <a:cubicBezTo>
                    <a:pt x="633210" y="58431"/>
                    <a:pt x="646023" y="89366"/>
                    <a:pt x="646023" y="121623"/>
                  </a:cubicBezTo>
                  <a:lnTo>
                    <a:pt x="646023" y="504877"/>
                  </a:lnTo>
                  <a:cubicBezTo>
                    <a:pt x="646023" y="572048"/>
                    <a:pt x="591571" y="626500"/>
                    <a:pt x="524401" y="626500"/>
                  </a:cubicBezTo>
                  <a:lnTo>
                    <a:pt x="121623" y="626500"/>
                  </a:lnTo>
                  <a:cubicBezTo>
                    <a:pt x="54452" y="626500"/>
                    <a:pt x="0" y="572048"/>
                    <a:pt x="0" y="504877"/>
                  </a:cubicBezTo>
                  <a:lnTo>
                    <a:pt x="0" y="121623"/>
                  </a:lnTo>
                  <a:cubicBezTo>
                    <a:pt x="0" y="54452"/>
                    <a:pt x="54452" y="0"/>
                    <a:pt x="121623" y="0"/>
                  </a:cubicBezTo>
                  <a:close/>
                </a:path>
              </a:pathLst>
            </a:custGeom>
            <a:gradFill rotWithShape="true">
              <a:gsLst>
                <a:gs pos="0">
                  <a:srgbClr val="0C131D">
                    <a:alpha val="100000"/>
                  </a:srgbClr>
                </a:gs>
                <a:gs pos="100000">
                  <a:srgbClr val="0F2E4A">
                    <a:alpha val="100000"/>
                  </a:srgbClr>
                </a:gs>
              </a:gsLst>
              <a:lin ang="0"/>
            </a:gradFill>
            <a:ln cap="rnd">
              <a:noFill/>
              <a:prstDash val="solid"/>
              <a:round/>
            </a:ln>
          </p:spPr>
        </p:sp>
        <p:sp>
          <p:nvSpPr>
            <p:cNvPr name="TextBox 5" id="5"/>
            <p:cNvSpPr txBox="true"/>
            <p:nvPr/>
          </p:nvSpPr>
          <p:spPr>
            <a:xfrm>
              <a:off x="0" y="-38100"/>
              <a:ext cx="646023" cy="6646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2251509">
            <a:off x="14160616" y="4334152"/>
            <a:ext cx="3628663" cy="7520545"/>
          </a:xfrm>
          <a:custGeom>
            <a:avLst/>
            <a:gdLst/>
            <a:ahLst/>
            <a:cxnLst/>
            <a:rect r="r" b="b" t="t" l="l"/>
            <a:pathLst>
              <a:path h="7520545" w="3628663">
                <a:moveTo>
                  <a:pt x="3628663" y="0"/>
                </a:moveTo>
                <a:lnTo>
                  <a:pt x="0" y="0"/>
                </a:lnTo>
                <a:lnTo>
                  <a:pt x="0" y="7520546"/>
                </a:lnTo>
                <a:lnTo>
                  <a:pt x="3628663" y="7520546"/>
                </a:lnTo>
                <a:lnTo>
                  <a:pt x="3628663" y="0"/>
                </a:lnTo>
                <a:close/>
              </a:path>
            </a:pathLst>
          </a:custGeom>
          <a:blipFill>
            <a:blip r:embed="rId4"/>
            <a:stretch>
              <a:fillRect l="0" t="0" r="0" b="0"/>
            </a:stretch>
          </a:blipFill>
        </p:spPr>
      </p:sp>
      <p:sp>
        <p:nvSpPr>
          <p:cNvPr name="Freeform 7" id="7"/>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903795" y="5097780"/>
            <a:ext cx="2031358" cy="2100088"/>
          </a:xfrm>
          <a:custGeom>
            <a:avLst/>
            <a:gdLst/>
            <a:ahLst/>
            <a:cxnLst/>
            <a:rect r="r" b="b" t="t" l="l"/>
            <a:pathLst>
              <a:path h="2100088" w="2031358">
                <a:moveTo>
                  <a:pt x="0" y="0"/>
                </a:moveTo>
                <a:lnTo>
                  <a:pt x="2031358" y="0"/>
                </a:lnTo>
                <a:lnTo>
                  <a:pt x="2031358" y="2100088"/>
                </a:lnTo>
                <a:lnTo>
                  <a:pt x="0" y="21000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028700" y="1627243"/>
            <a:ext cx="7655860" cy="1029973"/>
          </a:xfrm>
          <a:prstGeom prst="rect">
            <a:avLst/>
          </a:prstGeom>
        </p:spPr>
        <p:txBody>
          <a:bodyPr anchor="t" rtlCol="false" tIns="0" lIns="0" bIns="0" rIns="0">
            <a:spAutoFit/>
          </a:bodyPr>
          <a:lstStyle/>
          <a:p>
            <a:pPr algn="l">
              <a:lnSpc>
                <a:spcPts val="7490"/>
              </a:lnSpc>
            </a:pPr>
            <a:r>
              <a:rPr lang="en-US" sz="7000" b="true">
                <a:solidFill>
                  <a:srgbClr val="FFFFFF"/>
                </a:solidFill>
                <a:latin typeface="Poppins Bold"/>
                <a:ea typeface="Poppins Bold"/>
                <a:cs typeface="Poppins Bold"/>
                <a:sym typeface="Poppins Bold"/>
              </a:rPr>
              <a:t>Introduction</a:t>
            </a:r>
          </a:p>
        </p:txBody>
      </p:sp>
      <p:sp>
        <p:nvSpPr>
          <p:cNvPr name="TextBox 10" id="10"/>
          <p:cNvSpPr txBox="true"/>
          <p:nvPr/>
        </p:nvSpPr>
        <p:spPr>
          <a:xfrm rot="0">
            <a:off x="1028700" y="2762322"/>
            <a:ext cx="10317758" cy="6618605"/>
          </a:xfrm>
          <a:prstGeom prst="rect">
            <a:avLst/>
          </a:prstGeom>
        </p:spPr>
        <p:txBody>
          <a:bodyPr anchor="t" rtlCol="false" tIns="0" lIns="0" bIns="0" rIns="0">
            <a:spAutoFit/>
          </a:bodyPr>
          <a:lstStyle/>
          <a:p>
            <a:pPr algn="just">
              <a:lnSpc>
                <a:spcPts val="4369"/>
              </a:lnSpc>
            </a:pPr>
            <a:r>
              <a:rPr lang="en-US" sz="2570">
                <a:solidFill>
                  <a:srgbClr val="FFFFFF"/>
                </a:solidFill>
                <a:latin typeface="Poppins"/>
                <a:ea typeface="Poppins"/>
                <a:cs typeface="Poppins"/>
                <a:sym typeface="Poppins"/>
              </a:rPr>
              <a:t>In an era of rapidly evolving financial markets, retail investors increasingly face a critical challenge: navigating complex investment landscapes without access to personalized, adaptive guidance. Traditional wealth management solutions often rely on generic, one-size-fits-all strategies that fail to account for individual financial goals, risk tolerance.</a:t>
            </a:r>
          </a:p>
          <a:p>
            <a:pPr algn="just">
              <a:lnSpc>
                <a:spcPts val="4369"/>
              </a:lnSpc>
            </a:pPr>
            <a:r>
              <a:rPr lang="en-US" sz="2570">
                <a:solidFill>
                  <a:srgbClr val="FFFFFF"/>
                </a:solidFill>
                <a:latin typeface="Poppins"/>
                <a:ea typeface="Poppins"/>
                <a:cs typeface="Poppins"/>
                <a:sym typeface="Poppins"/>
              </a:rPr>
              <a:t>A Personalized Investment Recommendation System addresses these gaps by combining advanced analytics, machine learning, and financial expertise to deliver tailored investment strategies. Unlike static models, this system dynamically adapts to real-time market shifts, macroeconomic trends, and user-specific changes.</a:t>
            </a:r>
          </a:p>
        </p:txBody>
      </p:sp>
      <p:sp>
        <p:nvSpPr>
          <p:cNvPr name="Freeform 11" id="11"/>
          <p:cNvSpPr/>
          <p:nvPr/>
        </p:nvSpPr>
        <p:spPr>
          <a:xfrm flipH="false" flipV="false" rot="0">
            <a:off x="5316070" y="7401701"/>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9">
              <a:alphaModFix amt="30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33865" y="581358"/>
            <a:ext cx="13020271" cy="9362248"/>
          </a:xfrm>
          <a:custGeom>
            <a:avLst/>
            <a:gdLst/>
            <a:ahLst/>
            <a:cxnLst/>
            <a:rect r="r" b="b" t="t" l="l"/>
            <a:pathLst>
              <a:path h="9362248" w="13020271">
                <a:moveTo>
                  <a:pt x="0" y="0"/>
                </a:moveTo>
                <a:lnTo>
                  <a:pt x="13020270" y="0"/>
                </a:lnTo>
                <a:lnTo>
                  <a:pt x="13020270" y="9362248"/>
                </a:lnTo>
                <a:lnTo>
                  <a:pt x="0" y="9362248"/>
                </a:lnTo>
                <a:lnTo>
                  <a:pt x="0" y="0"/>
                </a:lnTo>
                <a:close/>
              </a:path>
            </a:pathLst>
          </a:custGeom>
          <a:blipFill>
            <a:blip r:embed="rId4"/>
            <a:stretch>
              <a:fillRect l="0" t="-912" r="0" b="-5767"/>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346458" y="4361857"/>
            <a:ext cx="4583172" cy="4444667"/>
            <a:chOff x="0" y="0"/>
            <a:chExt cx="646023" cy="626500"/>
          </a:xfrm>
        </p:grpSpPr>
        <p:sp>
          <p:nvSpPr>
            <p:cNvPr name="Freeform 3" id="3"/>
            <p:cNvSpPr/>
            <p:nvPr/>
          </p:nvSpPr>
          <p:spPr>
            <a:xfrm flipH="false" flipV="false" rot="0">
              <a:off x="0" y="0"/>
              <a:ext cx="646023" cy="626500"/>
            </a:xfrm>
            <a:custGeom>
              <a:avLst/>
              <a:gdLst/>
              <a:ahLst/>
              <a:cxnLst/>
              <a:rect r="r" b="b" t="t" l="l"/>
              <a:pathLst>
                <a:path h="626500" w="646023">
                  <a:moveTo>
                    <a:pt x="121623" y="0"/>
                  </a:moveTo>
                  <a:lnTo>
                    <a:pt x="524401" y="0"/>
                  </a:lnTo>
                  <a:cubicBezTo>
                    <a:pt x="556657" y="0"/>
                    <a:pt x="587592" y="12814"/>
                    <a:pt x="610401" y="35622"/>
                  </a:cubicBezTo>
                  <a:cubicBezTo>
                    <a:pt x="633210" y="58431"/>
                    <a:pt x="646023" y="89366"/>
                    <a:pt x="646023" y="121623"/>
                  </a:cubicBezTo>
                  <a:lnTo>
                    <a:pt x="646023" y="504877"/>
                  </a:lnTo>
                  <a:cubicBezTo>
                    <a:pt x="646023" y="572048"/>
                    <a:pt x="591571" y="626500"/>
                    <a:pt x="524401" y="626500"/>
                  </a:cubicBezTo>
                  <a:lnTo>
                    <a:pt x="121623" y="626500"/>
                  </a:lnTo>
                  <a:cubicBezTo>
                    <a:pt x="54452" y="626500"/>
                    <a:pt x="0" y="572048"/>
                    <a:pt x="0" y="504877"/>
                  </a:cubicBezTo>
                  <a:lnTo>
                    <a:pt x="0" y="121623"/>
                  </a:lnTo>
                  <a:cubicBezTo>
                    <a:pt x="0" y="54452"/>
                    <a:pt x="54452" y="0"/>
                    <a:pt x="121623" y="0"/>
                  </a:cubicBezTo>
                  <a:close/>
                </a:path>
              </a:pathLst>
            </a:custGeom>
            <a:gradFill rotWithShape="true">
              <a:gsLst>
                <a:gs pos="0">
                  <a:srgbClr val="0C131D">
                    <a:alpha val="100000"/>
                  </a:srgbClr>
                </a:gs>
                <a:gs pos="100000">
                  <a:srgbClr val="0F2E4A">
                    <a:alpha val="100000"/>
                  </a:srgbClr>
                </a:gs>
              </a:gsLst>
              <a:lin ang="0"/>
            </a:gradFill>
            <a:ln cap="rnd">
              <a:noFill/>
              <a:prstDash val="solid"/>
              <a:round/>
            </a:ln>
          </p:spPr>
        </p:sp>
        <p:sp>
          <p:nvSpPr>
            <p:cNvPr name="TextBox 4" id="4"/>
            <p:cNvSpPr txBox="true"/>
            <p:nvPr/>
          </p:nvSpPr>
          <p:spPr>
            <a:xfrm>
              <a:off x="0" y="-38100"/>
              <a:ext cx="646023" cy="6646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2251509">
            <a:off x="13745697" y="4334152"/>
            <a:ext cx="3628663" cy="7520545"/>
          </a:xfrm>
          <a:custGeom>
            <a:avLst/>
            <a:gdLst/>
            <a:ahLst/>
            <a:cxnLst/>
            <a:rect r="r" b="b" t="t" l="l"/>
            <a:pathLst>
              <a:path h="7520545" w="3628663">
                <a:moveTo>
                  <a:pt x="3628663" y="0"/>
                </a:moveTo>
                <a:lnTo>
                  <a:pt x="0" y="0"/>
                </a:lnTo>
                <a:lnTo>
                  <a:pt x="0" y="7520546"/>
                </a:lnTo>
                <a:lnTo>
                  <a:pt x="3628663" y="7520546"/>
                </a:lnTo>
                <a:lnTo>
                  <a:pt x="3628663" y="0"/>
                </a:lnTo>
                <a:close/>
              </a:path>
            </a:pathLst>
          </a:custGeom>
          <a:blipFill>
            <a:blip r:embed="rId2"/>
            <a:stretch>
              <a:fillRect l="0" t="0" r="0" b="0"/>
            </a:stretch>
          </a:blipFill>
        </p:spPr>
      </p:sp>
      <p:sp>
        <p:nvSpPr>
          <p:cNvPr name="Freeform 6" id="6"/>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477552" y="5097780"/>
            <a:ext cx="2031358" cy="2100088"/>
          </a:xfrm>
          <a:custGeom>
            <a:avLst/>
            <a:gdLst/>
            <a:ahLst/>
            <a:cxnLst/>
            <a:rect r="r" b="b" t="t" l="l"/>
            <a:pathLst>
              <a:path h="2100088" w="2031358">
                <a:moveTo>
                  <a:pt x="0" y="0"/>
                </a:moveTo>
                <a:lnTo>
                  <a:pt x="2031358" y="0"/>
                </a:lnTo>
                <a:lnTo>
                  <a:pt x="2031358" y="2100088"/>
                </a:lnTo>
                <a:lnTo>
                  <a:pt x="0" y="2100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85548" y="3981569"/>
            <a:ext cx="1807165" cy="4824955"/>
          </a:xfrm>
          <a:custGeom>
            <a:avLst/>
            <a:gdLst/>
            <a:ahLst/>
            <a:cxnLst/>
            <a:rect r="r" b="b" t="t" l="l"/>
            <a:pathLst>
              <a:path h="4824955" w="1807165">
                <a:moveTo>
                  <a:pt x="0" y="0"/>
                </a:moveTo>
                <a:lnTo>
                  <a:pt x="1807165" y="0"/>
                </a:lnTo>
                <a:lnTo>
                  <a:pt x="1807165" y="4824955"/>
                </a:lnTo>
                <a:lnTo>
                  <a:pt x="0" y="48249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844452" y="1233845"/>
            <a:ext cx="16230600" cy="760479"/>
          </a:xfrm>
          <a:prstGeom prst="rect">
            <a:avLst/>
          </a:prstGeom>
        </p:spPr>
        <p:txBody>
          <a:bodyPr anchor="t" rtlCol="false" tIns="0" lIns="0" bIns="0" rIns="0">
            <a:spAutoFit/>
          </a:bodyPr>
          <a:lstStyle/>
          <a:p>
            <a:pPr algn="ctr">
              <a:lnSpc>
                <a:spcPts val="5457"/>
              </a:lnSpc>
            </a:pPr>
            <a:r>
              <a:rPr lang="en-US" sz="5100" b="true">
                <a:solidFill>
                  <a:srgbClr val="FFFFFF"/>
                </a:solidFill>
                <a:latin typeface="Poppins Bold"/>
                <a:ea typeface="Poppins Bold"/>
                <a:cs typeface="Poppins Bold"/>
                <a:sym typeface="Poppins Bold"/>
              </a:rPr>
              <a:t>Why Personalized Finance Recommender</a:t>
            </a:r>
          </a:p>
        </p:txBody>
      </p:sp>
      <p:sp>
        <p:nvSpPr>
          <p:cNvPr name="TextBox 10" id="10"/>
          <p:cNvSpPr txBox="true"/>
          <p:nvPr/>
        </p:nvSpPr>
        <p:spPr>
          <a:xfrm rot="0">
            <a:off x="1581932" y="2314639"/>
            <a:ext cx="15073417" cy="987589"/>
          </a:xfrm>
          <a:prstGeom prst="rect">
            <a:avLst/>
          </a:prstGeom>
        </p:spPr>
        <p:txBody>
          <a:bodyPr anchor="t" rtlCol="false" tIns="0" lIns="0" bIns="0" rIns="0">
            <a:spAutoFit/>
          </a:bodyPr>
          <a:lstStyle/>
          <a:p>
            <a:pPr algn="l">
              <a:lnSpc>
                <a:spcPts val="3840"/>
              </a:lnSpc>
              <a:spcBef>
                <a:spcPct val="0"/>
              </a:spcBef>
            </a:pPr>
            <a:r>
              <a:rPr lang="en-US" sz="2743">
                <a:solidFill>
                  <a:srgbClr val="FFFFFF"/>
                </a:solidFill>
                <a:latin typeface="Poppins"/>
                <a:ea typeface="Poppins"/>
                <a:cs typeface="Poppins"/>
                <a:sym typeface="Poppins"/>
              </a:rPr>
              <a:t>In today’s fast-paced financial markets, retail investors need personalized, adaptive guidance</a:t>
            </a:r>
          </a:p>
        </p:txBody>
      </p:sp>
      <p:sp>
        <p:nvSpPr>
          <p:cNvPr name="TextBox 11" id="11"/>
          <p:cNvSpPr txBox="true"/>
          <p:nvPr/>
        </p:nvSpPr>
        <p:spPr>
          <a:xfrm rot="0">
            <a:off x="3384761" y="4227771"/>
            <a:ext cx="7669649" cy="915729"/>
          </a:xfrm>
          <a:prstGeom prst="rect">
            <a:avLst/>
          </a:prstGeom>
        </p:spPr>
        <p:txBody>
          <a:bodyPr anchor="t" rtlCol="false" tIns="0" lIns="0" bIns="0" rIns="0">
            <a:spAutoFit/>
          </a:bodyPr>
          <a:lstStyle/>
          <a:p>
            <a:pPr algn="l">
              <a:lnSpc>
                <a:spcPts val="3601"/>
              </a:lnSpc>
              <a:spcBef>
                <a:spcPct val="0"/>
              </a:spcBef>
            </a:pPr>
            <a:r>
              <a:rPr lang="en-US" sz="2572">
                <a:solidFill>
                  <a:srgbClr val="FFFFFF"/>
                </a:solidFill>
                <a:latin typeface="Poppins"/>
                <a:ea typeface="Poppins"/>
                <a:cs typeface="Poppins"/>
                <a:sym typeface="Poppins"/>
              </a:rPr>
              <a:t>Traditional wealth management solutions are static and generic</a:t>
            </a:r>
          </a:p>
        </p:txBody>
      </p:sp>
      <p:sp>
        <p:nvSpPr>
          <p:cNvPr name="TextBox 12" id="12"/>
          <p:cNvSpPr txBox="true"/>
          <p:nvPr/>
        </p:nvSpPr>
        <p:spPr>
          <a:xfrm rot="0">
            <a:off x="3384761" y="5902845"/>
            <a:ext cx="7669649" cy="915729"/>
          </a:xfrm>
          <a:prstGeom prst="rect">
            <a:avLst/>
          </a:prstGeom>
        </p:spPr>
        <p:txBody>
          <a:bodyPr anchor="t" rtlCol="false" tIns="0" lIns="0" bIns="0" rIns="0">
            <a:spAutoFit/>
          </a:bodyPr>
          <a:lstStyle/>
          <a:p>
            <a:pPr algn="l">
              <a:lnSpc>
                <a:spcPts val="3601"/>
              </a:lnSpc>
              <a:spcBef>
                <a:spcPct val="0"/>
              </a:spcBef>
            </a:pPr>
            <a:r>
              <a:rPr lang="en-US" sz="2572">
                <a:solidFill>
                  <a:srgbClr val="FFFFFF"/>
                </a:solidFill>
                <a:latin typeface="Poppins"/>
                <a:ea typeface="Poppins"/>
                <a:cs typeface="Poppins"/>
                <a:sym typeface="Poppins"/>
              </a:rPr>
              <a:t>Our solution uses AI and machine learning to provide tailored investment strategies</a:t>
            </a:r>
          </a:p>
        </p:txBody>
      </p:sp>
      <p:sp>
        <p:nvSpPr>
          <p:cNvPr name="TextBox 13" id="13"/>
          <p:cNvSpPr txBox="true"/>
          <p:nvPr/>
        </p:nvSpPr>
        <p:spPr>
          <a:xfrm rot="0">
            <a:off x="3384761" y="7577918"/>
            <a:ext cx="7669649" cy="1830129"/>
          </a:xfrm>
          <a:prstGeom prst="rect">
            <a:avLst/>
          </a:prstGeom>
        </p:spPr>
        <p:txBody>
          <a:bodyPr anchor="t" rtlCol="false" tIns="0" lIns="0" bIns="0" rIns="0">
            <a:spAutoFit/>
          </a:bodyPr>
          <a:lstStyle/>
          <a:p>
            <a:pPr algn="l">
              <a:lnSpc>
                <a:spcPts val="3601"/>
              </a:lnSpc>
            </a:pPr>
            <a:r>
              <a:rPr lang="en-US" sz="2572">
                <a:solidFill>
                  <a:srgbClr val="FFFFFF"/>
                </a:solidFill>
                <a:latin typeface="Poppins"/>
                <a:ea typeface="Poppins"/>
                <a:cs typeface="Poppins"/>
                <a:sym typeface="Poppins"/>
              </a:rPr>
              <a:t>The Need for Personalization:</a:t>
            </a:r>
          </a:p>
          <a:p>
            <a:pPr algn="l">
              <a:lnSpc>
                <a:spcPts val="3601"/>
              </a:lnSpc>
            </a:pPr>
            <a:r>
              <a:rPr lang="en-US" sz="2572">
                <a:solidFill>
                  <a:srgbClr val="FFFFFF"/>
                </a:solidFill>
                <a:latin typeface="Poppins"/>
                <a:ea typeface="Poppins"/>
                <a:cs typeface="Poppins"/>
                <a:sym typeface="Poppins"/>
              </a:rPr>
              <a:t> Unique financial goals, varying risk tolerance, dynamic markets.</a:t>
            </a:r>
          </a:p>
          <a:p>
            <a:pPr algn="l">
              <a:lnSpc>
                <a:spcPts val="3601"/>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99506" y="1788432"/>
            <a:ext cx="15688989" cy="6865613"/>
          </a:xfrm>
          <a:custGeom>
            <a:avLst/>
            <a:gdLst/>
            <a:ahLst/>
            <a:cxnLst/>
            <a:rect r="r" b="b" t="t" l="l"/>
            <a:pathLst>
              <a:path h="6865613" w="15688989">
                <a:moveTo>
                  <a:pt x="0" y="0"/>
                </a:moveTo>
                <a:lnTo>
                  <a:pt x="15688988" y="0"/>
                </a:lnTo>
                <a:lnTo>
                  <a:pt x="15688988" y="6865613"/>
                </a:lnTo>
                <a:lnTo>
                  <a:pt x="0" y="6865613"/>
                </a:lnTo>
                <a:lnTo>
                  <a:pt x="0" y="0"/>
                </a:lnTo>
                <a:close/>
              </a:path>
            </a:pathLst>
          </a:custGeom>
          <a:blipFill>
            <a:blip r:embed="rId2"/>
            <a:stretch>
              <a:fillRect l="0" t="-7224" r="0" b="-7224"/>
            </a:stretch>
          </a:blipFill>
        </p:spPr>
      </p:sp>
      <p:sp>
        <p:nvSpPr>
          <p:cNvPr name="TextBox 3" id="3"/>
          <p:cNvSpPr txBox="true"/>
          <p:nvPr/>
        </p:nvSpPr>
        <p:spPr>
          <a:xfrm rot="0">
            <a:off x="6643487" y="1759857"/>
            <a:ext cx="5704556" cy="1062146"/>
          </a:xfrm>
          <a:prstGeom prst="rect">
            <a:avLst/>
          </a:prstGeom>
        </p:spPr>
        <p:txBody>
          <a:bodyPr anchor="t" rtlCol="false" tIns="0" lIns="0" bIns="0" rIns="0">
            <a:spAutoFit/>
          </a:bodyPr>
          <a:lstStyle/>
          <a:p>
            <a:pPr algn="l">
              <a:lnSpc>
                <a:spcPts val="7769"/>
              </a:lnSpc>
            </a:pPr>
            <a:r>
              <a:rPr lang="en-US" sz="6815" b="true">
                <a:solidFill>
                  <a:srgbClr val="FFFFFF"/>
                </a:solidFill>
                <a:latin typeface="Poppins Bold"/>
                <a:ea typeface="Poppins Bold"/>
                <a:cs typeface="Poppins Bold"/>
                <a:sym typeface="Poppins Bold"/>
              </a:rPr>
              <a:t>Tech Stack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26573" y="666053"/>
            <a:ext cx="17028112" cy="8846075"/>
          </a:xfrm>
          <a:custGeom>
            <a:avLst/>
            <a:gdLst/>
            <a:ahLst/>
            <a:cxnLst/>
            <a:rect r="r" b="b" t="t" l="l"/>
            <a:pathLst>
              <a:path h="8846075" w="17028112">
                <a:moveTo>
                  <a:pt x="0" y="0"/>
                </a:moveTo>
                <a:lnTo>
                  <a:pt x="17028112" y="0"/>
                </a:lnTo>
                <a:lnTo>
                  <a:pt x="17028112" y="8846075"/>
                </a:lnTo>
                <a:lnTo>
                  <a:pt x="0" y="8846075"/>
                </a:lnTo>
                <a:lnTo>
                  <a:pt x="0" y="0"/>
                </a:lnTo>
                <a:close/>
              </a:path>
            </a:pathLst>
          </a:custGeom>
          <a:blipFill>
            <a:blip r:embed="rId2"/>
            <a:stretch>
              <a:fillRect l="0" t="-6484" r="0" b="-829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8188" y="6077739"/>
            <a:ext cx="3657600" cy="871174"/>
          </a:xfrm>
          <a:custGeom>
            <a:avLst/>
            <a:gdLst/>
            <a:ahLst/>
            <a:cxnLst/>
            <a:rect r="r" b="b" t="t" l="l"/>
            <a:pathLst>
              <a:path h="871174" w="3657600">
                <a:moveTo>
                  <a:pt x="0" y="0"/>
                </a:moveTo>
                <a:lnTo>
                  <a:pt x="3657600" y="0"/>
                </a:lnTo>
                <a:lnTo>
                  <a:pt x="3657600" y="871174"/>
                </a:lnTo>
                <a:lnTo>
                  <a:pt x="0" y="871174"/>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0005" y="7714944"/>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961941" y="1832229"/>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5611324" y="2812875"/>
            <a:ext cx="906992" cy="90699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1</a:t>
              </a:r>
            </a:p>
          </p:txBody>
        </p:sp>
      </p:grpSp>
      <p:grpSp>
        <p:nvGrpSpPr>
          <p:cNvPr name="Group 10" id="10"/>
          <p:cNvGrpSpPr/>
          <p:nvPr/>
        </p:nvGrpSpPr>
        <p:grpSpPr>
          <a:xfrm rot="0">
            <a:off x="8076326" y="2723603"/>
            <a:ext cx="7814514" cy="1085537"/>
            <a:chOff x="0" y="0"/>
            <a:chExt cx="2058143" cy="285903"/>
          </a:xfrm>
        </p:grpSpPr>
        <p:sp>
          <p:nvSpPr>
            <p:cNvPr name="Freeform 11" id="11"/>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2" id="12"/>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Personalized Recommendations</a:t>
              </a:r>
            </a:p>
            <a:p>
              <a:pPr algn="ctr">
                <a:lnSpc>
                  <a:spcPts val="2520"/>
                </a:lnSpc>
              </a:pPr>
            </a:p>
          </p:txBody>
        </p:sp>
      </p:grpSp>
      <p:sp>
        <p:nvSpPr>
          <p:cNvPr name="TextBox 13" id="13"/>
          <p:cNvSpPr txBox="true"/>
          <p:nvPr/>
        </p:nvSpPr>
        <p:spPr>
          <a:xfrm rot="0">
            <a:off x="-450272" y="4962490"/>
            <a:ext cx="6515092" cy="1198880"/>
          </a:xfrm>
          <a:prstGeom prst="rect">
            <a:avLst/>
          </a:prstGeom>
        </p:spPr>
        <p:txBody>
          <a:bodyPr anchor="t" rtlCol="false" tIns="0" lIns="0" bIns="0" rIns="0">
            <a:spAutoFit/>
          </a:bodyPr>
          <a:lstStyle/>
          <a:p>
            <a:pPr algn="ctr">
              <a:lnSpc>
                <a:spcPts val="8560"/>
              </a:lnSpc>
            </a:pPr>
            <a:r>
              <a:rPr lang="en-US" sz="8000" b="true">
                <a:solidFill>
                  <a:srgbClr val="FFFFFF"/>
                </a:solidFill>
                <a:latin typeface="Poppins Bold"/>
                <a:ea typeface="Poppins Bold"/>
                <a:cs typeface="Poppins Bold"/>
                <a:sym typeface="Poppins Bold"/>
              </a:rPr>
              <a:t>Goals</a:t>
            </a:r>
          </a:p>
        </p:txBody>
      </p:sp>
      <p:grpSp>
        <p:nvGrpSpPr>
          <p:cNvPr name="Group 14" id="14"/>
          <p:cNvGrpSpPr/>
          <p:nvPr/>
        </p:nvGrpSpPr>
        <p:grpSpPr>
          <a:xfrm rot="0">
            <a:off x="8076326" y="4466868"/>
            <a:ext cx="7814514" cy="1085537"/>
            <a:chOff x="0" y="0"/>
            <a:chExt cx="2058143" cy="285903"/>
          </a:xfrm>
        </p:grpSpPr>
        <p:sp>
          <p:nvSpPr>
            <p:cNvPr name="Freeform 15" id="15"/>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6" id="16"/>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Dynamic risk management</a:t>
              </a:r>
            </a:p>
            <a:p>
              <a:pPr algn="ctr">
                <a:lnSpc>
                  <a:spcPts val="2520"/>
                </a:lnSpc>
              </a:pPr>
            </a:p>
          </p:txBody>
        </p:sp>
      </p:grpSp>
      <p:grpSp>
        <p:nvGrpSpPr>
          <p:cNvPr name="Group 17" id="17"/>
          <p:cNvGrpSpPr/>
          <p:nvPr/>
        </p:nvGrpSpPr>
        <p:grpSpPr>
          <a:xfrm rot="0">
            <a:off x="8076326" y="6210133"/>
            <a:ext cx="7814514" cy="1085537"/>
            <a:chOff x="0" y="0"/>
            <a:chExt cx="2058143" cy="285903"/>
          </a:xfrm>
        </p:grpSpPr>
        <p:sp>
          <p:nvSpPr>
            <p:cNvPr name="Freeform 18" id="18"/>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9" id="19"/>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Real-Time market analysis</a:t>
              </a:r>
            </a:p>
            <a:p>
              <a:pPr algn="ctr">
                <a:lnSpc>
                  <a:spcPts val="2520"/>
                </a:lnSpc>
              </a:pPr>
            </a:p>
          </p:txBody>
        </p:sp>
      </p:grpSp>
      <p:grpSp>
        <p:nvGrpSpPr>
          <p:cNvPr name="Group 20" id="20"/>
          <p:cNvGrpSpPr/>
          <p:nvPr/>
        </p:nvGrpSpPr>
        <p:grpSpPr>
          <a:xfrm rot="0">
            <a:off x="8076326" y="7953398"/>
            <a:ext cx="7814514" cy="1085537"/>
            <a:chOff x="0" y="0"/>
            <a:chExt cx="2058143" cy="285903"/>
          </a:xfrm>
        </p:grpSpPr>
        <p:sp>
          <p:nvSpPr>
            <p:cNvPr name="Freeform 21" id="21"/>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22" id="22"/>
            <p:cNvSpPr txBox="true"/>
            <p:nvPr/>
          </p:nvSpPr>
          <p:spPr>
            <a:xfrm>
              <a:off x="0" y="161925"/>
              <a:ext cx="2058143" cy="123978"/>
            </a:xfrm>
            <a:prstGeom prst="rect">
              <a:avLst/>
            </a:prstGeom>
          </p:spPr>
          <p:txBody>
            <a:bodyPr anchor="ctr" rtlCol="false" tIns="38100" lIns="38100" bIns="38100" rIns="38100"/>
            <a:lstStyle/>
            <a:p>
              <a:pPr algn="ctr">
                <a:lnSpc>
                  <a:spcPts val="1399"/>
                </a:lnSpc>
              </a:pPr>
              <a:r>
                <a:rPr lang="en-US" sz="2799" spc="190">
                  <a:solidFill>
                    <a:srgbClr val="000000"/>
                  </a:solidFill>
                  <a:latin typeface="Poppins"/>
                  <a:ea typeface="Poppins"/>
                  <a:cs typeface="Poppins"/>
                  <a:sym typeface="Poppins"/>
                </a:rPr>
                <a:t>User education and transparency </a:t>
              </a:r>
            </a:p>
            <a:p>
              <a:pPr algn="ctr">
                <a:lnSpc>
                  <a:spcPts val="2240"/>
                </a:lnSpc>
              </a:pPr>
            </a:p>
          </p:txBody>
        </p:sp>
      </p:grpSp>
      <p:grpSp>
        <p:nvGrpSpPr>
          <p:cNvPr name="Group 23" id="23"/>
          <p:cNvGrpSpPr/>
          <p:nvPr/>
        </p:nvGrpSpPr>
        <p:grpSpPr>
          <a:xfrm rot="0">
            <a:off x="5611324" y="4556140"/>
            <a:ext cx="906992" cy="90699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2</a:t>
              </a:r>
            </a:p>
          </p:txBody>
        </p:sp>
      </p:grpSp>
      <p:grpSp>
        <p:nvGrpSpPr>
          <p:cNvPr name="Group 26" id="26"/>
          <p:cNvGrpSpPr/>
          <p:nvPr/>
        </p:nvGrpSpPr>
        <p:grpSpPr>
          <a:xfrm rot="0">
            <a:off x="5611324" y="6299405"/>
            <a:ext cx="906992" cy="90699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3</a:t>
              </a:r>
            </a:p>
          </p:txBody>
        </p:sp>
      </p:grpSp>
      <p:grpSp>
        <p:nvGrpSpPr>
          <p:cNvPr name="Group 29" id="29"/>
          <p:cNvGrpSpPr/>
          <p:nvPr/>
        </p:nvGrpSpPr>
        <p:grpSpPr>
          <a:xfrm rot="0">
            <a:off x="5611324" y="8044597"/>
            <a:ext cx="906992" cy="90699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31" id="31"/>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4</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8188" y="6077739"/>
            <a:ext cx="3657600" cy="871174"/>
          </a:xfrm>
          <a:custGeom>
            <a:avLst/>
            <a:gdLst/>
            <a:ahLst/>
            <a:cxnLst/>
            <a:rect r="r" b="b" t="t" l="l"/>
            <a:pathLst>
              <a:path h="871174" w="3657600">
                <a:moveTo>
                  <a:pt x="0" y="0"/>
                </a:moveTo>
                <a:lnTo>
                  <a:pt x="3657600" y="0"/>
                </a:lnTo>
                <a:lnTo>
                  <a:pt x="3657600" y="871174"/>
                </a:lnTo>
                <a:lnTo>
                  <a:pt x="0" y="871174"/>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0005" y="7714944"/>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961941" y="1832229"/>
            <a:ext cx="5447285" cy="891374"/>
          </a:xfrm>
          <a:custGeom>
            <a:avLst/>
            <a:gdLst/>
            <a:ahLst/>
            <a:cxnLst/>
            <a:rect r="r" b="b" t="t" l="l"/>
            <a:pathLst>
              <a:path h="891374" w="5447285">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5611324" y="2812875"/>
            <a:ext cx="906992" cy="90699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1</a:t>
              </a:r>
            </a:p>
          </p:txBody>
        </p:sp>
      </p:grpSp>
      <p:grpSp>
        <p:nvGrpSpPr>
          <p:cNvPr name="Group 10" id="10"/>
          <p:cNvGrpSpPr/>
          <p:nvPr/>
        </p:nvGrpSpPr>
        <p:grpSpPr>
          <a:xfrm rot="0">
            <a:off x="8076326" y="2723603"/>
            <a:ext cx="7814514" cy="1085537"/>
            <a:chOff x="0" y="0"/>
            <a:chExt cx="2058143" cy="285903"/>
          </a:xfrm>
        </p:grpSpPr>
        <p:sp>
          <p:nvSpPr>
            <p:cNvPr name="Freeform 11" id="11"/>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2" id="12"/>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User Profile</a:t>
              </a:r>
            </a:p>
          </p:txBody>
        </p:sp>
      </p:grpSp>
      <p:sp>
        <p:nvSpPr>
          <p:cNvPr name="TextBox 13" id="13"/>
          <p:cNvSpPr txBox="true"/>
          <p:nvPr/>
        </p:nvSpPr>
        <p:spPr>
          <a:xfrm rot="0">
            <a:off x="-450272" y="4962490"/>
            <a:ext cx="6515092" cy="2284730"/>
          </a:xfrm>
          <a:prstGeom prst="rect">
            <a:avLst/>
          </a:prstGeom>
        </p:spPr>
        <p:txBody>
          <a:bodyPr anchor="t" rtlCol="false" tIns="0" lIns="0" bIns="0" rIns="0">
            <a:spAutoFit/>
          </a:bodyPr>
          <a:lstStyle/>
          <a:p>
            <a:pPr algn="ctr">
              <a:lnSpc>
                <a:spcPts val="8560"/>
              </a:lnSpc>
            </a:pPr>
            <a:r>
              <a:rPr lang="en-US" sz="8000" b="true">
                <a:solidFill>
                  <a:srgbClr val="FFFFFF"/>
                </a:solidFill>
                <a:latin typeface="Poppins Bold"/>
                <a:ea typeface="Poppins Bold"/>
                <a:cs typeface="Poppins Bold"/>
                <a:sym typeface="Poppins Bold"/>
              </a:rPr>
              <a:t>Key Features</a:t>
            </a:r>
          </a:p>
        </p:txBody>
      </p:sp>
      <p:grpSp>
        <p:nvGrpSpPr>
          <p:cNvPr name="Group 14" id="14"/>
          <p:cNvGrpSpPr/>
          <p:nvPr/>
        </p:nvGrpSpPr>
        <p:grpSpPr>
          <a:xfrm rot="0">
            <a:off x="8076326" y="4466868"/>
            <a:ext cx="7814514" cy="1085537"/>
            <a:chOff x="0" y="0"/>
            <a:chExt cx="2058143" cy="285903"/>
          </a:xfrm>
        </p:grpSpPr>
        <p:sp>
          <p:nvSpPr>
            <p:cNvPr name="Freeform 15" id="15"/>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6" id="16"/>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Market Data Analysis</a:t>
              </a:r>
            </a:p>
            <a:p>
              <a:pPr algn="ctr">
                <a:lnSpc>
                  <a:spcPts val="2520"/>
                </a:lnSpc>
              </a:pPr>
            </a:p>
          </p:txBody>
        </p:sp>
      </p:grpSp>
      <p:grpSp>
        <p:nvGrpSpPr>
          <p:cNvPr name="Group 17" id="17"/>
          <p:cNvGrpSpPr/>
          <p:nvPr/>
        </p:nvGrpSpPr>
        <p:grpSpPr>
          <a:xfrm rot="0">
            <a:off x="8076326" y="6210133"/>
            <a:ext cx="7814514" cy="1085537"/>
            <a:chOff x="0" y="0"/>
            <a:chExt cx="2058143" cy="285903"/>
          </a:xfrm>
        </p:grpSpPr>
        <p:sp>
          <p:nvSpPr>
            <p:cNvPr name="Freeform 18" id="18"/>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19" id="19"/>
            <p:cNvSpPr txBox="true"/>
            <p:nvPr/>
          </p:nvSpPr>
          <p:spPr>
            <a:xfrm>
              <a:off x="0" y="180975"/>
              <a:ext cx="2058143" cy="104928"/>
            </a:xfrm>
            <a:prstGeom prst="rect">
              <a:avLst/>
            </a:prstGeom>
          </p:spPr>
          <p:txBody>
            <a:bodyPr anchor="ctr" rtlCol="false" tIns="38100" lIns="38100" bIns="38100" rIns="38100"/>
            <a:lstStyle/>
            <a:p>
              <a:pPr algn="ctr">
                <a:lnSpc>
                  <a:spcPts val="1499"/>
                </a:lnSpc>
              </a:pPr>
              <a:r>
                <a:rPr lang="en-US" sz="2999" spc="203">
                  <a:solidFill>
                    <a:srgbClr val="000000"/>
                  </a:solidFill>
                  <a:latin typeface="Poppins"/>
                  <a:ea typeface="Poppins"/>
                  <a:cs typeface="Poppins"/>
                  <a:sym typeface="Poppins"/>
                </a:rPr>
                <a:t>Recommendation Engine</a:t>
              </a:r>
            </a:p>
            <a:p>
              <a:pPr algn="ctr">
                <a:lnSpc>
                  <a:spcPts val="2520"/>
                </a:lnSpc>
              </a:pPr>
            </a:p>
          </p:txBody>
        </p:sp>
      </p:grpSp>
      <p:grpSp>
        <p:nvGrpSpPr>
          <p:cNvPr name="Group 20" id="20"/>
          <p:cNvGrpSpPr/>
          <p:nvPr/>
        </p:nvGrpSpPr>
        <p:grpSpPr>
          <a:xfrm rot="0">
            <a:off x="8076326" y="7953398"/>
            <a:ext cx="7814514" cy="1085537"/>
            <a:chOff x="0" y="0"/>
            <a:chExt cx="2058143" cy="285903"/>
          </a:xfrm>
        </p:grpSpPr>
        <p:sp>
          <p:nvSpPr>
            <p:cNvPr name="Freeform 21" id="21"/>
            <p:cNvSpPr/>
            <p:nvPr/>
          </p:nvSpPr>
          <p:spPr>
            <a:xfrm flipH="false" flipV="false" rot="0">
              <a:off x="0" y="0"/>
              <a:ext cx="2058144" cy="285903"/>
            </a:xfrm>
            <a:custGeom>
              <a:avLst/>
              <a:gdLst/>
              <a:ahLst/>
              <a:cxnLst/>
              <a:rect r="r" b="b" t="t" l="l"/>
              <a:pathLst>
                <a:path h="285903" w="2058144">
                  <a:moveTo>
                    <a:pt x="50526" y="0"/>
                  </a:moveTo>
                  <a:lnTo>
                    <a:pt x="2007617" y="0"/>
                  </a:lnTo>
                  <a:cubicBezTo>
                    <a:pt x="2035522" y="0"/>
                    <a:pt x="2058144" y="22621"/>
                    <a:pt x="2058144" y="50526"/>
                  </a:cubicBezTo>
                  <a:lnTo>
                    <a:pt x="2058144" y="235377"/>
                  </a:lnTo>
                  <a:cubicBezTo>
                    <a:pt x="2058144" y="263281"/>
                    <a:pt x="2035522" y="285903"/>
                    <a:pt x="2007617" y="285903"/>
                  </a:cubicBezTo>
                  <a:lnTo>
                    <a:pt x="50526" y="285903"/>
                  </a:lnTo>
                  <a:cubicBezTo>
                    <a:pt x="22621" y="285903"/>
                    <a:pt x="0" y="263281"/>
                    <a:pt x="0" y="235377"/>
                  </a:cubicBezTo>
                  <a:lnTo>
                    <a:pt x="0" y="50526"/>
                  </a:lnTo>
                  <a:cubicBezTo>
                    <a:pt x="0" y="22621"/>
                    <a:pt x="22621" y="0"/>
                    <a:pt x="50526" y="0"/>
                  </a:cubicBezTo>
                  <a:close/>
                </a:path>
              </a:pathLst>
            </a:custGeom>
            <a:solidFill>
              <a:srgbClr val="AAD7D4"/>
            </a:solidFill>
          </p:spPr>
        </p:sp>
        <p:sp>
          <p:nvSpPr>
            <p:cNvPr name="TextBox 22" id="22"/>
            <p:cNvSpPr txBox="true"/>
            <p:nvPr/>
          </p:nvSpPr>
          <p:spPr>
            <a:xfrm>
              <a:off x="0" y="161925"/>
              <a:ext cx="2058143" cy="123978"/>
            </a:xfrm>
            <a:prstGeom prst="rect">
              <a:avLst/>
            </a:prstGeom>
          </p:spPr>
          <p:txBody>
            <a:bodyPr anchor="ctr" rtlCol="false" tIns="38100" lIns="38100" bIns="38100" rIns="38100"/>
            <a:lstStyle/>
            <a:p>
              <a:pPr algn="ctr">
                <a:lnSpc>
                  <a:spcPts val="1399"/>
                </a:lnSpc>
              </a:pPr>
              <a:r>
                <a:rPr lang="en-US" sz="2799" spc="190">
                  <a:solidFill>
                    <a:srgbClr val="000000"/>
                  </a:solidFill>
                  <a:latin typeface="Poppins"/>
                  <a:ea typeface="Poppins"/>
                  <a:cs typeface="Poppins"/>
                  <a:sym typeface="Poppins"/>
                </a:rPr>
                <a:t>Risk Assessment</a:t>
              </a:r>
            </a:p>
            <a:p>
              <a:pPr algn="ctr">
                <a:lnSpc>
                  <a:spcPts val="2240"/>
                </a:lnSpc>
              </a:pPr>
            </a:p>
          </p:txBody>
        </p:sp>
      </p:grpSp>
      <p:grpSp>
        <p:nvGrpSpPr>
          <p:cNvPr name="Group 23" id="23"/>
          <p:cNvGrpSpPr/>
          <p:nvPr/>
        </p:nvGrpSpPr>
        <p:grpSpPr>
          <a:xfrm rot="0">
            <a:off x="5611324" y="4556140"/>
            <a:ext cx="906992" cy="90699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2</a:t>
              </a:r>
            </a:p>
          </p:txBody>
        </p:sp>
      </p:grpSp>
      <p:grpSp>
        <p:nvGrpSpPr>
          <p:cNvPr name="Group 26" id="26"/>
          <p:cNvGrpSpPr/>
          <p:nvPr/>
        </p:nvGrpSpPr>
        <p:grpSpPr>
          <a:xfrm rot="0">
            <a:off x="5611324" y="6299405"/>
            <a:ext cx="906992" cy="90699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3</a:t>
              </a:r>
            </a:p>
          </p:txBody>
        </p:sp>
      </p:grpSp>
      <p:grpSp>
        <p:nvGrpSpPr>
          <p:cNvPr name="Group 29" id="29"/>
          <p:cNvGrpSpPr/>
          <p:nvPr/>
        </p:nvGrpSpPr>
        <p:grpSpPr>
          <a:xfrm rot="0">
            <a:off x="5611324" y="8044597"/>
            <a:ext cx="906992" cy="90699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31" id="31"/>
            <p:cNvSpPr txBox="true"/>
            <p:nvPr/>
          </p:nvSpPr>
          <p:spPr>
            <a:xfrm>
              <a:off x="76200" y="19050"/>
              <a:ext cx="660400" cy="717550"/>
            </a:xfrm>
            <a:prstGeom prst="rect">
              <a:avLst/>
            </a:prstGeom>
          </p:spPr>
          <p:txBody>
            <a:bodyPr anchor="ctr" rtlCol="false" tIns="50800" lIns="50800" bIns="50800" rIns="50800"/>
            <a:lstStyle/>
            <a:p>
              <a:pPr algn="ctr">
                <a:lnSpc>
                  <a:spcPts val="2799"/>
                </a:lnSpc>
              </a:pPr>
              <a:r>
                <a:rPr lang="en-US" sz="1999">
                  <a:solidFill>
                    <a:srgbClr val="000000"/>
                  </a:solidFill>
                  <a:latin typeface="Poppins"/>
                  <a:ea typeface="Poppins"/>
                  <a:cs typeface="Poppins"/>
                  <a:sym typeface="Poppins"/>
                </a:rPr>
                <a:t>4</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131D">
                <a:alpha val="100000"/>
              </a:srgbClr>
            </a:gs>
            <a:gs pos="100000">
              <a:srgbClr val="0F2E4A">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318584" y="860317"/>
            <a:ext cx="336766" cy="336766"/>
          </a:xfrm>
          <a:custGeom>
            <a:avLst/>
            <a:gdLst/>
            <a:ahLst/>
            <a:cxnLst/>
            <a:rect r="r" b="b" t="t" l="l"/>
            <a:pathLst>
              <a:path h="336766" w="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8140" y="779906"/>
            <a:ext cx="490819" cy="444414"/>
          </a:xfrm>
          <a:custGeom>
            <a:avLst/>
            <a:gdLst/>
            <a:ahLst/>
            <a:cxnLst/>
            <a:rect r="r" b="b" t="t" l="l"/>
            <a:pathLst>
              <a:path h="444414" w="490819">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5580">
            <a:off x="9448914" y="3355575"/>
            <a:ext cx="10428119" cy="3780193"/>
          </a:xfrm>
          <a:custGeom>
            <a:avLst/>
            <a:gdLst/>
            <a:ahLst/>
            <a:cxnLst/>
            <a:rect r="r" b="b" t="t" l="l"/>
            <a:pathLst>
              <a:path h="3780193" w="10428119">
                <a:moveTo>
                  <a:pt x="0" y="0"/>
                </a:moveTo>
                <a:lnTo>
                  <a:pt x="10428119" y="0"/>
                </a:lnTo>
                <a:lnTo>
                  <a:pt x="10428119" y="3780193"/>
                </a:lnTo>
                <a:lnTo>
                  <a:pt x="0" y="3780193"/>
                </a:lnTo>
                <a:lnTo>
                  <a:pt x="0" y="0"/>
                </a:lnTo>
                <a:close/>
              </a:path>
            </a:pathLst>
          </a:custGeom>
          <a:blipFill>
            <a:blip r:embed="rId6"/>
            <a:stretch>
              <a:fillRect l="0" t="0" r="0" b="0"/>
            </a:stretch>
          </a:blipFill>
        </p:spPr>
      </p:sp>
      <p:sp>
        <p:nvSpPr>
          <p:cNvPr name="TextBox 5" id="5"/>
          <p:cNvSpPr txBox="true"/>
          <p:nvPr/>
        </p:nvSpPr>
        <p:spPr>
          <a:xfrm rot="0">
            <a:off x="1028700" y="4407549"/>
            <a:ext cx="9862709" cy="1714344"/>
          </a:xfrm>
          <a:prstGeom prst="rect">
            <a:avLst/>
          </a:prstGeom>
        </p:spPr>
        <p:txBody>
          <a:bodyPr anchor="t" rtlCol="false" tIns="0" lIns="0" bIns="0" rIns="0">
            <a:spAutoFit/>
          </a:bodyPr>
          <a:lstStyle/>
          <a:p>
            <a:pPr algn="l">
              <a:lnSpc>
                <a:spcPts val="12336"/>
              </a:lnSpc>
            </a:pPr>
            <a:r>
              <a:rPr lang="en-US" sz="11529" b="true">
                <a:solidFill>
                  <a:srgbClr val="FFFFFF"/>
                </a:solidFill>
                <a:latin typeface="Poppins Bold"/>
                <a:ea typeface="Poppins Bold"/>
                <a:cs typeface="Poppins Bold"/>
                <a:sym typeface="Poppins Bold"/>
              </a:rPr>
              <a:t>Thank You</a:t>
            </a:r>
          </a:p>
        </p:txBody>
      </p:sp>
      <p:sp>
        <p:nvSpPr>
          <p:cNvPr name="Freeform 6" id="6"/>
          <p:cNvSpPr/>
          <p:nvPr/>
        </p:nvSpPr>
        <p:spPr>
          <a:xfrm flipH="true" flipV="false" rot="0">
            <a:off x="12898741" y="6966124"/>
            <a:ext cx="5644451" cy="1395719"/>
          </a:xfrm>
          <a:custGeom>
            <a:avLst/>
            <a:gdLst/>
            <a:ahLst/>
            <a:cxnLst/>
            <a:rect r="r" b="b" t="t" l="l"/>
            <a:pathLst>
              <a:path h="1395719" w="5644451">
                <a:moveTo>
                  <a:pt x="5644452" y="0"/>
                </a:moveTo>
                <a:lnTo>
                  <a:pt x="0" y="0"/>
                </a:lnTo>
                <a:lnTo>
                  <a:pt x="0" y="1395719"/>
                </a:lnTo>
                <a:lnTo>
                  <a:pt x="5644452" y="1395719"/>
                </a:lnTo>
                <a:lnTo>
                  <a:pt x="5644452" y="0"/>
                </a:lnTo>
                <a:close/>
              </a:path>
            </a:pathLst>
          </a:custGeom>
          <a:blipFill>
            <a:blip r:embed="rId7">
              <a:alphaModFix amt="30000"/>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235503" y="2272178"/>
            <a:ext cx="5447285" cy="891374"/>
          </a:xfrm>
          <a:custGeom>
            <a:avLst/>
            <a:gdLst/>
            <a:ahLst/>
            <a:cxnLst/>
            <a:rect r="r" b="b" t="t" l="l"/>
            <a:pathLst>
              <a:path h="891374" w="5447285">
                <a:moveTo>
                  <a:pt x="0" y="0"/>
                </a:moveTo>
                <a:lnTo>
                  <a:pt x="5447286" y="0"/>
                </a:lnTo>
                <a:lnTo>
                  <a:pt x="5447286" y="891373"/>
                </a:lnTo>
                <a:lnTo>
                  <a:pt x="0" y="891373"/>
                </a:lnTo>
                <a:lnTo>
                  <a:pt x="0" y="0"/>
                </a:lnTo>
                <a:close/>
              </a:path>
            </a:pathLst>
          </a:custGeom>
          <a:blipFill>
            <a:blip r:embed="rId9">
              <a:alphaModFix amt="30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DAGeVgi9j0Y</dc:identifier>
  <dcterms:modified xsi:type="dcterms:W3CDTF">2011-08-01T06:04:30Z</dcterms:modified>
  <cp:revision>1</cp:revision>
  <dc:title>Artificial Intelligence</dc:title>
</cp:coreProperties>
</file>